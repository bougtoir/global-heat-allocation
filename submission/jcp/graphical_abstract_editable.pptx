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Conservation-aware detection of thermal burden shifting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828800"/>
            <a:ext cx="2057400" cy="2103120"/>
          </a:xfrm>
          <a:prstGeom prst="roundRect">
            <a:avLst/>
          </a:prstGeom>
          <a:solidFill>
            <a:srgbClr val="DBEAFE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HEAT SOURCE</a:t>
            </a:r>
          </a:p>
          <a:p>
            <a:pPr algn="ctr"/>
            <a:r>
              <a:rPr sz="1200"/>
              <a:t>Measured or modeled</a:t>
            </a:r>
            <a:br/>
            <a:r>
              <a:t>conserved heat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828800"/>
            <a:ext cx="2057400" cy="2103120"/>
          </a:xfrm>
          <a:prstGeom prst="roundRect">
            <a:avLst/>
          </a:prstGeom>
          <a:solidFill>
            <a:srgbClr val="EDE9FE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LOCAL RELIEF</a:t>
            </a:r>
          </a:p>
          <a:p>
            <a:pPr algn="ctr"/>
            <a:r>
              <a:rPr sz="1200"/>
              <a:t>Minimize local</a:t>
            </a:r>
            <a:br/>
            <a:r>
              <a:t>human burden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828800"/>
            <a:ext cx="2057400" cy="2103120"/>
          </a:xfrm>
          <a:prstGeom prst="roundRect">
            <a:avLst/>
          </a:prstGeom>
          <a:solidFill>
            <a:srgbClr val="FEF3C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APPARENT SINK</a:t>
            </a:r>
          </a:p>
          <a:p>
            <a:pPr algn="ctr"/>
            <a:r>
              <a:rPr sz="1200"/>
              <a:t>Remote land | ocean</a:t>
            </a:r>
            <a:br/>
            <a:r>
              <a:t>cryosphere | atmosphere</a:t>
            </a:r>
            <a:br/>
            <a:r>
              <a:t>radiative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2057400" cy="2103120"/>
          </a:xfrm>
          <a:prstGeom prst="roundRect">
            <a:avLst/>
          </a:prstGeom>
          <a:solidFill>
            <a:srgbClr val="FEE2E2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NOT A FREE SINK</a:t>
            </a:r>
          </a:p>
          <a:p>
            <a:pPr algn="ctr"/>
            <a:r>
              <a:rPr sz="1200"/>
              <a:t>Demand | route | capture</a:t>
            </a:r>
            <a:br/>
            <a:r>
              <a:t>auxiliaries | ecology</a:t>
            </a:r>
            <a:br/>
            <a:r>
              <a:t>cost |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828800"/>
            <a:ext cx="2057400" cy="2103120"/>
          </a:xfrm>
          <a:prstGeom prst="roundRect">
            <a:avLst/>
          </a:prstGeom>
          <a:solidFill>
            <a:srgbClr val="DCFCE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VALIDATED PATHWAY</a:t>
            </a:r>
          </a:p>
          <a:p>
            <a:pPr algn="ctr"/>
            <a:r>
              <a:rPr sz="1200"/>
              <a:t>Reuse or storage</a:t>
            </a:r>
            <a:br/>
            <a:r>
              <a:t>when evidenced</a:t>
            </a:r>
            <a:br/>
            <a:r>
              <a:t>0 evidence-supported modes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880360"/>
            <a:ext cx="32004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880360"/>
            <a:ext cx="32004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32320" y="2880360"/>
            <a:ext cx="32004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09760" y="2880360"/>
            <a:ext cx="320040" cy="0"/>
          </a:xfrm>
          <a:prstGeom prst="line">
            <a:avLst/>
          </a:prstGeom>
          <a:ln w="2540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/>
              <a:t>Removing heat from one place does not remove its environmental consequences.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