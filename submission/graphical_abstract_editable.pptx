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/>
              <a:t>How much global heat-allocation value survives real constraints?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3429000" cy="1828800"/>
          </a:xfrm>
          <a:prstGeom prst="roundRect">
            <a:avLst/>
          </a:prstGeom>
          <a:solidFill>
            <a:srgbClr val="D9EAF2"/>
          </a:solidFill>
          <a:ln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/>
              <a:t>Global screening bound</a:t>
            </a:r>
          </a:p>
          <a:p>
            <a:pPr algn="ctr"/>
            <a:r>
              <a:rPr sz="1400"/>
              <a:t>conserved one-unit allocation</a:t>
            </a:r>
            <a:br/>
            <a:r>
              <a:t>burden 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234440"/>
            <a:ext cx="3429000" cy="1828800"/>
          </a:xfrm>
          <a:prstGeom prst="roundRect">
            <a:avLst/>
          </a:prstGeom>
          <a:solidFill>
            <a:srgbClr val="E8E1F2"/>
          </a:solidFill>
          <a:ln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/>
              <a:t>Measured real case</a:t>
            </a:r>
          </a:p>
          <a:p>
            <a:pPr algn="ctr"/>
            <a:r>
              <a:rPr sz="1400"/>
              <a:t>Frontier waste heat</a:t>
            </a:r>
            <a:br/>
            <a:r>
              <a:t>ORNL demand bounds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234440"/>
            <a:ext cx="3429000" cy="1828800"/>
          </a:xfrm>
          <a:prstGeom prst="roundRect">
            <a:avLst/>
          </a:prstGeom>
          <a:solidFill>
            <a:srgbClr val="DFF0E5"/>
          </a:solidFill>
          <a:ln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/>
              <a:t>Evidence waterfall</a:t>
            </a:r>
          </a:p>
          <a:p>
            <a:pPr algn="ctr"/>
            <a:r>
              <a:rPr sz="1400"/>
              <a:t>dispatch | route | cost |</a:t>
            </a:r>
            <a:br/>
            <a:r>
              <a:t>lifecycle | environment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77639" y="2148840"/>
            <a:ext cx="365761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0" y="2148840"/>
            <a:ext cx="36576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60120" y="3703320"/>
            <a:ext cx="1325880" cy="1325880"/>
          </a:xfrm>
          <a:prstGeom prst="ellipse">
            <a:avLst/>
          </a:prstGeom>
          <a:solidFill>
            <a:srgbClr val="0072B2"/>
          </a:solidFill>
          <a:ln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</a:rPr>
              <a:t>778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3840480"/>
            <a:ext cx="1965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matched spatial screening</a:t>
            </a:r>
            <a:br/>
            <a:r>
              <a:t>burden units per GJ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3703320"/>
            <a:ext cx="1325880" cy="1325880"/>
          </a:xfrm>
          <a:prstGeom prst="ellipse">
            <a:avLst/>
          </a:prstGeom>
          <a:solidFill>
            <a:srgbClr val="009E73"/>
          </a:solidFill>
          <a:ln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</a:rPr>
              <a:t>75,573.6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840480"/>
            <a:ext cx="1965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observed Frontier source</a:t>
            </a:r>
            <a:br/>
            <a:r>
              <a:t>MWh-th</a:t>
            </a:r>
          </a:p>
        </p:txBody>
      </p:sp>
      <p:sp>
        <p:nvSpPr>
          <p:cNvPr id="12" name="Oval 11"/>
          <p:cNvSpPr/>
          <p:nvPr/>
        </p:nvSpPr>
        <p:spPr>
          <a:xfrm>
            <a:off x="8549640" y="3703320"/>
            <a:ext cx="1325880" cy="1325880"/>
          </a:xfrm>
          <a:prstGeom prst="ellipse">
            <a:avLst/>
          </a:prstGeom>
          <a:solidFill>
            <a:srgbClr val="D55E00"/>
          </a:solidFill>
          <a:ln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3840480"/>
            <a:ext cx="1965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supported practical modes</a:t>
            </a:r>
            <a:br/>
            <a:r>
              <a:t>under current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/>
              <a:t>Burden-space potential and physical-energy delivery remain separate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