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Figure 1</a:t>
            </a:r>
          </a:p>
        </p:txBody>
      </p:sp>
      <p:pic>
        <p:nvPicPr>
          <p:cNvPr id="3" name="Picture 2" descr="figure_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777240"/>
            <a:ext cx="10789920" cy="4716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/>
              <a:t>Figure 1. Two-scale heat-allocation and evidence framework. The global burden-space screening branch and the real physical-energy branch enter a common evidence-gated constraint waterfall without an assumed unit conversion.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Figure 2</a:t>
            </a:r>
          </a:p>
        </p:txBody>
      </p:sp>
      <p:pic>
        <p:nvPicPr>
          <p:cNvPr id="3" name="Picture 2" descr="figure_2_primary_spatial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965" y="777240"/>
            <a:ext cx="611776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/>
              <a:t>Figure 2. Primary spatial one-GJ transfer under a small transport penalty of 10^-5 burden units per GJ-km, a 5,000-km limit, and land/non-cryosphere sink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Figure 3</a:t>
            </a:r>
          </a:p>
        </p:txBody>
      </p:sp>
      <p:pic>
        <p:nvPicPr>
          <p:cNvPr id="3" name="Picture 2" descr="figure_3_allocation_m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990" y="777240"/>
            <a:ext cx="754171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/>
              <a:t>Figure 3. Net marginal burden reduction for zero-penalty spatial, temporal, and joint modes using the same peak source cell-time; the temporal candidate uses a 18-hour 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Figure 4</a:t>
            </a:r>
          </a:p>
        </p:txBody>
      </p:sp>
      <p:pic>
        <p:nvPicPr>
          <p:cNvPr id="3" name="Picture 2" descr="figure_4_case_source_and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20" y="777240"/>
            <a:ext cx="722005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/>
              <a:t>Figure 4. Measured Frontier waste-heat power and reported ORNL receiving-demand bounds. Monthly source summaries retain unavailable 10-minute intervals rather than imputing them; horizontal lines are annual demand-summary bounds, not a synchronized demand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Figure 5</a:t>
            </a:r>
          </a:p>
        </p:txBody>
      </p:sp>
      <p:pic>
        <p:nvPicPr>
          <p:cNvPr id="3" name="Picture 2" descr="figure_5_constraint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390" y="777240"/>
            <a:ext cx="914291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/>
              <a:t>Figure 5. Global-to-real constraint waterfall. Burden-space and physical-energy branches remain separate because no supported unit bridge exists. The real pathway retains conditional inputs but reaches no supported practical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/>
              <a:t>Figure 6</a:t>
            </a:r>
          </a:p>
        </p:txBody>
      </p:sp>
      <p:pic>
        <p:nvPicPr>
          <p:cNvPr id="3" name="Picture 2" descr="figure_6_practical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694" y="777240"/>
            <a:ext cx="756230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806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/>
              <a:t>Figure 6. Conditional practical mode results under reported lower and upper demand bounds. All modes are sensitivity cases; storage labels do not imply a case-specific installed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Table 1. Public datasets used in the global analysis.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Product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Role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Version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Completion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Admin 0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country_boundaries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5.1.2, 1:110m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downward_longwave_flux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downward_shortwave_flux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eastward_wind_10m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land_fraction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invariant Gaussian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near_surface_air_temperature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near_surface_specific_humidity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northward_wind_10m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sea_ice_fraction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snow_water_equivalent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surface_pressure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upward_longwave_flux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NCEP/NCAR Reanalysis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upward_shortwave_flux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2023 annual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Unconstrained global population mosaic at 30 arc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population_count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Table 2. Canonical model assumptions.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624"/>
                <a:gridCol w="3849624"/>
                <a:gridCol w="3849624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Assumption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Value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Unit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Canonical transferred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GJ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Atmospheric mixing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m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Air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kg m-3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Air heat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1e+03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J kg-1 K-1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Humidex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degrees C equivalent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Burden curvature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dimensionless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Maximum transfer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5e+03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km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Local heat-load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1e+06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GJ</a:t>
                      </a:r>
                    </a:p>
                  </a:txBody>
                  <a:tcPr/>
                </a:tc>
              </a:tr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Maximum local temperature perturbation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Table 3. Matched-event spatial, temporal, and joint allocation results.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208"/>
                <a:gridCol w="1283208"/>
                <a:gridCol w="1283208"/>
                <a:gridCol w="1283208"/>
                <a:gridCol w="1283208"/>
                <a:gridCol w="1283208"/>
                <a:gridCol w="1283208"/>
                <a:gridCol w="1283208"/>
                <a:gridCol w="1283208"/>
              </a:tblGrid>
              <a:tr h="1348740"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Analysis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Source Country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Sink Country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Lag Steps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Distance Km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Net Benefit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Fraction Of Matched Spatial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Cooptimal Candidate Count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Near Optimal Candidate Count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</a:tr>
              <a:tr h="134874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spatial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Bangladesh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4.67e+03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808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Bangladesh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Bangladesh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</a:t>
                      </a:r>
                    </a:p>
                  </a:txBody>
                  <a:tcPr/>
                </a:tc>
              </a:tr>
              <a:tr h="134874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Bangladesh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Russia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4.67e+03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Table 4. Case-specific evidence status.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624"/>
                <a:gridCol w="3849624"/>
                <a:gridCol w="3849624"/>
              </a:tblGrid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Evidence Domain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Status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Supported Statement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Source heat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75,573.6 MWh-th; 49,869 valid intervals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Receiving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Summary bounds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Case A 0.76–2.09 MW; no synchronized profile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Heat 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Bounded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COP 3.08; 3.0 MW-th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Capture, route, auxiliaries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Not 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 recovery efficiency, hydraulic design, or incremental load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Not designed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 case-specific tank volume or operating temperature range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Cost and lifecycle CO2e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Incomplete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 complete installed cost or case-specific lifecycle inventory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Environmental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Not established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 route clearance or authorization for a new thermal discharge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Table 5. Global-to-real constraint summary.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Quantity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Value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Eligibility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Claim Limit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Global spatial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777.7645 burden units/GJ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Theoretical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 conversion to delivered heat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Global temporal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419.3294 burden units/GJ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Theoretical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Same-event marginal screening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Observed Frontier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75,573.6 MWh-th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Supported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Missing intervals retained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ORNL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0.76–3.61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Summary 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No synchronized demand trace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 finite dispatch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94.4121%–100.0000% demand 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Six sensitivity modes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Supported practical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Excluded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Required evidence gates remain open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Table 6. Conditional practical mode-decision results.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4887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812"/>
                <a:gridCol w="1924812"/>
                <a:gridCol w="1924812"/>
                <a:gridCol w="1924812"/>
                <a:gridCol w="1924812"/>
                <a:gridCol w="1924812"/>
              </a:tblGrid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Mode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Demand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Useful Heat (Mwh)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Demand Served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Residual Heat (Mwh)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/>
                        <a:t>Eligibility</a:t>
                      </a:r>
                    </a:p>
                  </a:txBody>
                  <a:tcPr>
                    <a:solidFill>
                      <a:srgbClr val="D9EAF2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Lower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8,278.8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94.5%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69,982.7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Formula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Lower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8,747.8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69,604.8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Generic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Lower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8,760.0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69,346.2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Upper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16,541.0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64,403.0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Formula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Upper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17,188.5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63,903.4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Generic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Upper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17,420.1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99.4%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63,501.3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>Conditional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